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402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仓储管理系统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310128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深度汇报完整版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370832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【甲方名称】 · 2026 年 10 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12188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汇报单位：【团队名称】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目录导览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目录导览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本次汇报内容导览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八个板块 · 23 页：从背景痛点到实施培训计划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093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背景与方案总览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112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P03–04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45352" y="1847088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9933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05472" y="2093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架构与业务全景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97312" y="2112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P05–06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98064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9443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3044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P07–17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45352" y="2798064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9443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472" y="3044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权限与安全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97312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8953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需求覆盖与质量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4014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P19–20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45352" y="3749040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8953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05472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项目工作量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97312" y="4014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700016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846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4946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实施与培训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45352" y="4700016"/>
            <a:ext cx="53949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4846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05472" y="49469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497312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背景与方案总览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背景与痛点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业务现状与四大核心痛点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管理动作依赖纸质单据与人工传递，问题在执行环节集中暴露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56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193852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账实不符，库存依赖手工台账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783080" y="23134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出入库纸质记录、月底集中对账，账面与实物经常对不上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63840" y="2157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超卖、停工待料、重复采购同时发生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07792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035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30175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生产领料耗时长，错领漏领频发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783080" y="339242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人工对照图纸配料，漏料到生产中途才被发现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32369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工期延长，现场停工等料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986784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114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40965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缺料信息滞后，采购全程被动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783080" y="447141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缺料靠口头传达，在途与到货进度不透明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43159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紧急采购成本高，交期不可控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065776"/>
            <a:ext cx="1109167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065776"/>
            <a:ext cx="82296" cy="93268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193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4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51755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跨部门协同靠跑单、状态不可查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783080" y="55504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销售、采购、仓储、生产之间单据人工传递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进度要挨个问，出了问题难追溯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背景与方案总览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方案总览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方案总览：一条业务主线，三层系统支撑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所有部门围绕同一主线协同，库存、单据、消息全链路闭环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EEF5FD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销售下单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84248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9" name="Shape 7"/>
          <p:cNvSpPr/>
          <p:nvPr/>
        </p:nvSpPr>
        <p:spPr>
          <a:xfrm>
            <a:off x="2161032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1032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排产齐套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96640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3773424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3424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采购补货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09032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5385816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21424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8208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8208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33816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0600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10600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46208" y="2286000"/>
            <a:ext cx="158496" cy="201168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22992" y="2057400"/>
            <a:ext cx="1417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2992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出库发货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154680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4015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业务单据层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51760" y="3392424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类业务单据域，全部状态机驱动：建单、确认、驳回、撤销、作废全程留痕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178808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4256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库存台账层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4416552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库存增减统一收口于各业务 Service：不入库不动账，账实始终一致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202936"/>
            <a:ext cx="11091672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4498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协同消息层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51760" y="54406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站内消息绑定具体单据，深链一键直达处理页，全流程时间线可追溯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架构与业务全景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技术架构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技术架构：主流成熟技术栈，分层解耦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前后端分离，权限、异常、审计在框架层统一收口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214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97480" y="20208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+ Element Plus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2331720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路由级 + 按钮级双重权限控制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43784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906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接口接入层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97480" y="299008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API（/api）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3300984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统一鉴权、统一异常处理、统一响应包装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13048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13048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59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697480" y="39593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+ MyBatis-Plus · 44 个 Service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4270248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单据状态机驱动，部门数据权限下沉服务层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782312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782312"/>
            <a:ext cx="82296" cy="8229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0292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97480" y="492861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8.0，事务化库存变更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97480" y="5239512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全表审计字段，关键业务快照留痕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部署形态：后端 8080 端口（context-path /api），前端 5173 开发端口 / 生产环境 Nginx 静态部署。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架构与业务全景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业务全景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业务全景：12 类单据域，全状态机运行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按部门分域，单据在域内闭环、跨域经消息与审批协同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391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77440" y="1828800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956816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销售单（多型号行）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027164" y="1828800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2028" y="1956816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销售退货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2670048"/>
            <a:ext cx="2971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279806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77256" y="2670048"/>
            <a:ext cx="2971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79806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商品退货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77072" y="2670048"/>
            <a:ext cx="2971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2798064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21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377440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生产任务单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37330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2194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质检记录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97219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2083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成品入库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7109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1973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领料单 领/补/退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16998" y="3511296"/>
            <a:ext cx="1731874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1862" y="3639312"/>
            <a:ext cx="1622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成品拆分单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352544"/>
            <a:ext cx="1691640" cy="713232"/>
          </a:xfrm>
          <a:prstGeom prst="roundRect">
            <a:avLst>
              <a:gd name="adj" fmla="val 8974"/>
            </a:avLst>
          </a:prstGeom>
          <a:solidFill>
            <a:srgbClr val="EEF5FD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5628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仓储域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377440" y="4352544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32304" y="4480560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库存盘点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027164" y="4352544"/>
            <a:ext cx="4521708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2028" y="4480560"/>
            <a:ext cx="4411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7609"/>
            </a:avLst>
          </a:prstGeom>
          <a:solidFill>
            <a:srgbClr val="17181A"/>
          </a:solidFill>
          <a:ln w="12700">
            <a:solidFill>
              <a:srgbClr val="1718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5412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跨域治理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377440" y="5541264"/>
            <a:ext cx="8988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审批中心（作废 / 价格偏离 / 部门审批） · 站内消息（绑定单据·深链直达） · 履约时间线 · 主数据（物料 / 成品 / BOM / 供应商）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销售协同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销售与客户协同：从下单到出库全程联动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销售单是业务主线起点，自动触发排产、审批与出库协同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sales_admin/s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一客户多型号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一单含 N 个成品明细行，同成品仅一行，整单一次出库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缺货可开单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允许待货销售单，缺货自动通知生产管理员联动排产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临时改价审批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单价偏离标准价超阈值，自动发起价格偏离审批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仓储确认出库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建单不动库存，仓储确认才扣减，出库硬校验库存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销售退货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按来源行退货、行级可退量控制，仓储确认入库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销售图表分析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销售趋势与年度经营统计，仅统计已出库单据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采购协同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采购与供应协同：供应、到货、退货闭环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采购申请驱动采购执行，到货质量与库存由仓储统一确认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urchase_admin/purch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供应商主数据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供应商档案与联系人支持搜索，业务单据全程引用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进货两段式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采购到货提交不入库，仓储确认后才增加库存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商品退货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退货经出库确认、退货确认两步，库存全程可控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采购申请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缺货识别或手动建单，四态状态机，撤销留痕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部分到货通知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部分到货仍缺料自动通知，在途单据防重复补料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进价历史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进价随入库自动回写，支持历史价格弹窗查询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生产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I：任务单与齐套预警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是生产需求的唯一来源，缺料在开工前暴露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roduction_admin/production-or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驱动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 BOM 定义单台物料用量，是齐套与领料的需求源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齐套三级预警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 BOM 对比库存：齐套、部分缺、严重缺阻断开工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关联销售单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可关联待货销售单，入库后自动通知销售跟进发货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工序打卡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道装配工序顺序打卡、栈式撤销，全程留痕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预计交付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按缺料到货与工期推算，支持人工修正并留痕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排产下达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仅列含有效 BOM 的成品，支持批量下达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· 生产 II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II：领料、补料、退料与拆分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物料按 BOM 精确流转，余量与差异全部可查可退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roduction_admin/split-or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自动生成领料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按任务单 BOM 自动生成领料单，防止漏领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补料机制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缺料自动生成补料申请，在途提示防重复提交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退料管控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退料记录应退量快照，经仓储确认回流入库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成品拆分单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行终止后可发起拆分，7 态状态机全程可追溯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拆分退料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拆分余料按应退量退回，支持明细级差异备注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单据统一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领料、补料、退料同一单据体系，按类型管理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· 生产 III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 III：质量门禁与成品入库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质检不合格不得入库，工序与质检双闸口保障出厂品质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production_admin/q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质检记录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测试员登记 OK / NG、时间与原因，逐单可查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 返工闭环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 转返工、重测合格或报废，全程留痕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质检闸口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未质检或 NG 的成品，系统拦截入库申请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工序双闸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道工序打卡完成 + 质检合格方可提交入库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两段式入库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生产申请不增加库存，仓储确认后才入成品仓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仓储复验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确认时复核工序与质检状态，可驳回并注明原因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· 仓储 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 I：入库侧统一确认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所有入库必经仓储确认，库存只在确认时点增加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purchase-confi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四类入库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进货到货、采购申请到货、生产入库、退货回流统一收口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两段式确认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业务提交申请不动库存，仓储确认后才增加库存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驳回与撤回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到货方可撤回、仓储可驳回，单据回到上一环节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库存唯一入口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入库仅经仓储服务助手变更，杜绝账外改动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来源可溯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每笔入库关联来源单据与单号，台账逐笔可查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进价回写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进货入库自动回写最近进价，作废时同步重算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· 仓储 II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 II：出库侧硬校验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库存不足的单据出不了库，账实一致由系统兜底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sales-confi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销售出库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销售单整单一次确认出库，不支持部分发货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退货出库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商品退货经出库确认后，再由采购确认退货完成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库存硬校验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确认时校验库存，不足标红退回，杜绝超发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领料发料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生产领料、补料由仓储发料，数量与单据一致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确认留痕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确认人、确认时间自动盖章，支持撤销重处理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出库台账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每笔出库对应单据行，库存结余逐笔可追溯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· 盘点预警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盘点与库存预警：账实定期对齐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循环盘点 + 阈值预警，让库存差异在业务发生前暴露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stocktak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四态盘点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盘点中、待审核、已完成、已取消，流程清晰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自选范围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按物料/成品选择范围或全盘，支持部分提交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盲盘机制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默认不显示账面数，导出空表填报再导回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责任到行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明细逐行指派负责人，录入人与时间全程留痕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实时差异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差异按生效时点账面计算，审核通过才调库存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预警中心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库存低于预警线集中展示，可直达发起补货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· 主数据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主数据治理：物料、成品、BOM 与供应商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主数据是全部业务的统一口径，变更受控、引用可溯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b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物料唯一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物料按名称+规格唯一，同名不同规格各自成条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成品管理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成品按名称唯一，标准售价支持单字段维护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主从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成品 BOM 定义单台用量，支持手工录入与导入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供应商档案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供应商与联系人统一建档，单据全程引用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价格分域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进价归采购、售价归销售，跨部门不可见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删除保护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被单据引用的主数据禁止删除，防止断链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· 审批中心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审批与异常处理：变更受控、异常有界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作废、改价、跨部门事项全部进审批，异常动作语义统一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warehouse_admin/void-approv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作废审批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已生效单据作废须说明原因，审批通过方可执行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价格偏离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销售改价超阈值自动发起，销售管理员专属审批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部门审批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跨部门事项按部门管理员流转，职责清晰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快照定格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作废前后与偏离行价格快照随审批永久留存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审批中冻结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待审批单据全部操作冻结，防止边审边改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异常口径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驳回、撤销、作废、冲抵各有明确语义与入口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消息与时间线追溯：协同有据、过程可回放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· 协同追溯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单据驱动消息精准触达，全流程节点自动沉淀为时间线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站内消息：单据驱动的协同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44144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业务动作自动发消息，按部门管理员精准触达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9443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消息绑定业务单据（biz_type / biz_id），深链直达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356616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44728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单据撤销、作废、终态时自动撤回未读消息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06908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95020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铃铛角标 + 站内邮箱单通道，不打扰、不漏办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445312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缺料、到货、审批、盘点指派等场景全面覆盖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1828800"/>
            <a:ext cx="5394960" cy="3310128"/>
          </a:xfrm>
          <a:prstGeom prst="roundRect">
            <a:avLst>
              <a:gd name="adj" fmla="val 1934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20299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履约时间线：全节点回放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19672" y="256032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44144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节点：下单、排产、物料准备、开工、装配、质检、入库、发货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19672" y="306324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9443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进货、退货等跨部门单据同样具备流程时间线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19672" y="356616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44728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驳回、撤销、作废等异常动作按时间顺序留痕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19672" y="406908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95020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操作人、操作时间、备注逐节点可查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19672" y="4572000"/>
            <a:ext cx="91440" cy="9144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45312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销售可凭时间线向客户透明反馈履约进度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532120"/>
            <a:ext cx="12188952" cy="868680"/>
          </a:xfrm>
          <a:prstGeom prst="rect">
            <a:avLst/>
          </a:prstGeom>
          <a:solidFill>
            <a:srgbClr val="17181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321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消息生命周期绑定业务单据（biz_type / biz_id） · 单据终态自动撤回未读消息 · 每条通知带深链直达处理页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业务模块详解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· 权限安全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权限与安全：分权而治、全程可审计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 + 角色双层分权，网络、登录、操作三道安全防线</a:t>
            </a:r>
            <a:endParaRPr lang="en-US" sz="1250" dirty="0"/>
          </a:p>
        </p:txBody>
      </p:sp>
      <p:pic>
        <p:nvPicPr>
          <p:cNvPr id="6" name="Image 0" descr="/home/pangl/Warehouse-Management-System-/document/manual-tools/shots/superadmin/sa-security-ip-polic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74520"/>
            <a:ext cx="6858000" cy="3858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6858000" cy="3858768"/>
          </a:xfrm>
          <a:prstGeom prst="roundRect">
            <a:avLst>
              <a:gd name="adj" fmla="val 1185"/>
            </a:avLst>
          </a:prstGeom>
          <a:ln w="12700">
            <a:solidFill>
              <a:srgbClr val="E1E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7790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系统实际界面（示例数据已脱敏）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92024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190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74152" y="18836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七部门三档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超管、管理员、员工按部门分权，遵循最小权限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635240" y="2596896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5859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074152" y="2560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员工开放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员工=同部门管理员−排除清单，业务可办、治理不碰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35240" y="327355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32625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74152" y="32369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 安全策略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IP 配置访问策略，异常来源可限制、可告警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35240" y="3950208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3939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74152" y="39136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登录日志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登录成功与失败全程记录，支持追溯与排查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62686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2" name="Text 19"/>
          <p:cNvSpPr/>
          <p:nvPr/>
        </p:nvSpPr>
        <p:spPr>
          <a:xfrm>
            <a:off x="7635240" y="461589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74152" y="45902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密码安全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统一密码策略 8–20 位字母+数字；顶栏自助改密，改后全端注销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635240" y="5303520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5" name="Text 22"/>
          <p:cNvSpPr/>
          <p:nvPr/>
        </p:nvSpPr>
        <p:spPr>
          <a:xfrm>
            <a:off x="7635240" y="52925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074152" y="52669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操作审计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关键动作自动留痕，超管仅治理、不办业务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需求覆盖映射：五项发起原因逐条闭环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· 需求映射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按客户需求文档「项目发起原因」组织，痛点 → 功能组 → 汇报页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402336"/>
          </a:xfrm>
          <a:prstGeom prst="rect">
            <a:avLst/>
          </a:prstGeom>
          <a:solidFill>
            <a:srgbClr val="17181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8308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原始痛点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21608" y="178308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落地功能组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45168" y="1783080"/>
            <a:ext cx="2221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对应汇报页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110916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85416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库存准确率不足，账实不符、缺料停工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21608" y="2185416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出入库两段式确认 · 库存台账 · 库存预警 · 齐套预警 · 采购申请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45168" y="218541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P12 P13 P14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11091672" cy="749808"/>
          </a:xfrm>
          <a:prstGeom prst="rect">
            <a:avLst/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35224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生产领料耗时久，错领漏领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21608" y="2935224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自动生成领料 · 补料幂等 · 退料应退量 · 工序顺序闸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45168" y="29352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P09 P10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85032"/>
            <a:ext cx="110916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85032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销售与仓库信息同步不及时，排单失序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21608" y="3685032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缺货开单联动排产 · 站内消息深链 · 履约时间线 · 行级终止联动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45168" y="368503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P07 P17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1672" cy="749808"/>
          </a:xfrm>
          <a:prstGeom prst="rect">
            <a:avLst/>
          </a:prstGeom>
          <a:solidFill>
            <a:srgbClr val="F7F7F5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434840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盘点耗时费力，循环盘点难执行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21608" y="4434840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自选范围盘点 · 盲盘导出导回 · 责任到行 · 实时差异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45168" y="443484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84648"/>
            <a:ext cx="1109167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5184648"/>
            <a:ext cx="2843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余料管理欠缺，成本核算与协同设计难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21608" y="5184648"/>
            <a:ext cx="5404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退料 / 拆分退料回流 · 成品拆分单 · BOM 治理 · 经营统计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45168" y="5184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P10 P15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需求依据：客户需求文档「项目发起原因」5 项；以上功能均已上线，并通过单测与端到端验证。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质量保障：测试、评审、留痕三重防线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· 质量保障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每个模块在上线前都经过自动化验证与人工评审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单元测试（全绿）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7278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67278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业务服务（Service）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5916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916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85916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架构决策记录（ADR）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4554" y="1783080"/>
            <a:ext cx="2635758" cy="1234440"/>
          </a:xfrm>
          <a:prstGeom prst="roundRect">
            <a:avLst>
              <a:gd name="adj" fmla="val 51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4554" y="1938528"/>
            <a:ext cx="26357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层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04554" y="2542032"/>
            <a:ext cx="2635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 / 负测 / 边界验证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958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518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07008" y="3456432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单元测试自动化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状态机流转、权限守卫、库存增减、消息撤销全覆盖，改动先跑测试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5916" y="3310128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7084" y="3529584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3" name="Text 21"/>
          <p:cNvSpPr/>
          <p:nvPr/>
        </p:nvSpPr>
        <p:spPr>
          <a:xfrm>
            <a:off x="6387084" y="351861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44284" y="3456432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 E2E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按真实业务流串联：下单→齐套→采购→生产→出入库，含权限负测与数据清理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00016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91947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9084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07008" y="4846320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代码评审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多轮静态审查，问题分级记录、逐条修复并回归验证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5916" y="4700016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7084" y="4919472"/>
            <a:ext cx="310896" cy="310896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31" name="Text 29"/>
          <p:cNvSpPr/>
          <p:nvPr/>
        </p:nvSpPr>
        <p:spPr>
          <a:xfrm>
            <a:off x="6387084" y="490849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44284" y="4846320"/>
            <a:ext cx="46314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过程留痕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份 ADR 与规划、进度、调研文件，每个决策有据可查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项目工作量统计：以系统实际产出为准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· 工作量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覆盖业务、数据、测试与迭代全过程的团队交付概览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前端路由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7278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367278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页面视图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85916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5916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185916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业务单据域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4554" y="1783080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4554" y="1892808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004554" y="2441448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业务部门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48640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 / 视图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67278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7278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367278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5916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5916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498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185916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04554" y="3026664"/>
            <a:ext cx="2635758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4554" y="3136392"/>
            <a:ext cx="26357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C5C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004554" y="3685032"/>
            <a:ext cx="2635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迭代轮次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11091672" cy="1737360"/>
          </a:xfrm>
          <a:prstGeom prst="roundRect">
            <a:avLst>
              <a:gd name="adj" fmla="val 3684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交付范围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828032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业务全链路（销售 / 采购 / 生产 / 仓储） · 库存预警与循环盘点 · 财务销售与经营统计 · 人事组织管理 ·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超管治理与审计（安全策略 / 登录与操作日志） · 协同能力（站内消息 / 履约时间线 / 审批中心 / 公告与工作要求）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以上为系统实际产出的团队维度统计，不含个人提交数据。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实施与培训计划：平稳切换、人人会用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811512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9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· 实施计划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分阶段部署、分角色培训，配套双轨试运行降低切换风险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51810" y="2048256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环境部署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服务器与数据库环境就绪，账号体系、主数据导入模板准备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35858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2" name="Text 10"/>
          <p:cNvSpPr/>
          <p:nvPr/>
        </p:nvSpPr>
        <p:spPr>
          <a:xfrm>
            <a:off x="3435858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39028" y="2048256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3435858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0450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分批上线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00450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 → 采购 / 仓储 → 生产 → 销售 / 财务，逐域验证切换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23076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18" name="Text 16"/>
          <p:cNvSpPr/>
          <p:nvPr/>
        </p:nvSpPr>
        <p:spPr>
          <a:xfrm>
            <a:off x="6323076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26246" y="2048256"/>
            <a:ext cx="310896" cy="201168"/>
          </a:xfrm>
          <a:prstGeom prst="rightArrow">
            <a:avLst/>
          </a:prstGeom>
          <a:solidFill>
            <a:srgbClr val="E1E0D9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3076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7668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分层培训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7668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管理员专场 + 各部门角色专场，配合手册讲解与现场答疑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10294" y="1920240"/>
            <a:ext cx="457200" cy="457200"/>
          </a:xfrm>
          <a:prstGeom prst="ellipse">
            <a:avLst/>
          </a:prstGeom>
          <a:solidFill>
            <a:srgbClr val="1C5CAB"/>
          </a:solidFill>
          <a:ln/>
        </p:spPr>
      </p:sp>
      <p:sp>
        <p:nvSpPr>
          <p:cNvPr id="24" name="Text 22"/>
          <p:cNvSpPr/>
          <p:nvPr/>
        </p:nvSpPr>
        <p:spPr>
          <a:xfrm>
            <a:off x="9210294" y="19092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10294" y="2606040"/>
            <a:ext cx="2430018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4886" y="2788920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双轨陪跑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74886" y="3200400"/>
            <a:ext cx="21008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 周试运行，问题当日闭环，确认稳定后正式单轨运行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5385"/>
            </a:avLst>
          </a:prstGeom>
          <a:solidFill>
            <a:srgbClr val="EEF5FD"/>
          </a:solidFill>
          <a:ln w="12700">
            <a:solidFill>
              <a:srgbClr val="EEF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89204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配套交付物：系统运行环境 · 《系统使用手册》 · 培训课件 · 测试与验收报告 · 源代码及设计文档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B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持续陪伴 · 共同成长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3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【团队名称】 · 【联系方式】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2026-10-10T12:45:45Z</dcterms:created>
  <dcterms:modified xsi:type="dcterms:W3CDTF">2026-10-10T12:45:45Z</dcterms:modified>
</cp:coreProperties>
</file>