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6B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项目成果汇报 · 简版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【项目名称】仓储管理系统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40156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从纸质单据到全流程数字化协同 —— 在成熟系统基础上深度定制开发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【甲方名称】    ·    承建：【团队名称】    ·    2026 年 10 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指标与内容截至 2026-10-08 · 简版共 13 页 · 详细版另附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汇报框架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今天汇报的四件事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13248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20824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74520" y="2093976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背景与痛点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74520" y="2496312"/>
            <a:ext cx="3813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甲方需求文档中的五类库存管理难题，以及本次建设的三个目标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413248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20824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543800" y="2093976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系统方案与三大亮点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43800" y="2496312"/>
            <a:ext cx="3813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一条业务主线 + 分层功能架构；库存盘点、销售协同、生产领料三大亮点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95928"/>
            <a:ext cx="5413248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3367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874520" y="4306824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治理与现场演示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874520" y="4709160"/>
            <a:ext cx="3813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审批、留痕、权限三道治理；四站演示路线走完核心业务闭环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3995928"/>
            <a:ext cx="5413248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23367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543800" y="4306824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成果与后续计划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43800" y="4709160"/>
            <a:ext cx="3813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 个月定制开发的工作量与质量指标；已规划的四项下一步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背景与痛点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背景与痛点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五类库存管理难题——摘自甲方需求文档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每一条都是日常运营中反复发生、靠人工手段难以根治的问题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11091672" cy="859536"/>
          </a:xfrm>
          <a:prstGeom prst="roundRect">
            <a:avLst>
              <a:gd name="adj" fmla="val 7447"/>
            </a:avLst>
          </a:prstGeom>
          <a:solidFill>
            <a:srgbClr val="FBFBFA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011680"/>
            <a:ext cx="347472" cy="347472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0070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35024" y="186537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库存管理混乱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1847088"/>
            <a:ext cx="7982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台账靠手工 / Excel 更新，滞后失真；超储与缺货并存，仓库利用率低。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后果：账上有的货找不到、找到的货对不上数，采购与生产决策缺少可信依据。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70048"/>
            <a:ext cx="11091672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926080"/>
            <a:ext cx="347472" cy="347472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91510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35024" y="277977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生产领料耗时久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2761488"/>
            <a:ext cx="7982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凭经验领料、往返仓库反复确认；错领漏领后还要二次补领。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后果：产线等料停工，工期被迫延长，错领的料无人追溯。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84448"/>
            <a:ext cx="11091672" cy="859536"/>
          </a:xfrm>
          <a:prstGeom prst="roundRect">
            <a:avLst>
              <a:gd name="adj" fmla="val 7447"/>
            </a:avLst>
          </a:prstGeom>
          <a:solidFill>
            <a:srgbClr val="FBFBFA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840480"/>
            <a:ext cx="347472" cy="347472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82950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35024" y="369417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销售与库存脱节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83280" y="3675888"/>
            <a:ext cx="7982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靠电话 / 微信问库存，响应慢、口径不一。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后果：先接单后发现没货，超卖违约风险与丢单并存。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98848"/>
            <a:ext cx="11091672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4754880"/>
            <a:ext cx="347472" cy="347472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74390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35024" y="460857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库存盘点效率低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383280" y="4590288"/>
            <a:ext cx="7982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人工核对费时费力且易出错，差异缺少系统记录。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后果：盘完说不清差在哪，复盘追责无据可查，同样问题反复出现。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413248"/>
            <a:ext cx="11091672" cy="859536"/>
          </a:xfrm>
          <a:prstGeom prst="roundRect">
            <a:avLst>
              <a:gd name="adj" fmla="val 7447"/>
            </a:avLst>
          </a:prstGeom>
          <a:solidFill>
            <a:srgbClr val="FBFBFA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5669280"/>
            <a:ext cx="347472" cy="347472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565830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35024" y="552297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余料管理不足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383280" y="5504688"/>
            <a:ext cx="7982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余料无台账、状态不明，有料不敢用、有料找不到。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后果：可再利用的余料长期闲置直至报废，持续浪费成本。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后续亮点页以「回应痛点 N」角标逐一对应；余料台账为下一步规划（见第 12 页）。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方案总览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三个建设目标，一条业务主线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3575304" cy="841248"/>
          </a:xfrm>
          <a:prstGeom prst="roundRect">
            <a:avLst>
              <a:gd name="adj" fmla="val 7609"/>
            </a:avLst>
          </a:prstGeom>
          <a:solidFill>
            <a:srgbClr val="1C5CA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27632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17320" y="1627632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建立统一库存台账，账实一致、数据实时准确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6824" y="1627632"/>
            <a:ext cx="3575304" cy="841248"/>
          </a:xfrm>
          <a:prstGeom prst="roundRect">
            <a:avLst>
              <a:gd name="adj" fmla="val 7609"/>
            </a:avLst>
          </a:prstGeom>
          <a:solidFill>
            <a:srgbClr val="1C5CAB"/>
          </a:solidFill>
          <a:ln/>
        </p:spPr>
      </p:sp>
      <p:sp>
        <p:nvSpPr>
          <p:cNvPr id="9" name="Text 7"/>
          <p:cNvSpPr/>
          <p:nvPr/>
        </p:nvSpPr>
        <p:spPr>
          <a:xfrm>
            <a:off x="4507992" y="1627632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175504" y="1627632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单据全流程线上流转，部门间自动协同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65008" y="1627632"/>
            <a:ext cx="3575304" cy="841248"/>
          </a:xfrm>
          <a:prstGeom prst="roundRect">
            <a:avLst>
              <a:gd name="adj" fmla="val 7609"/>
            </a:avLst>
          </a:prstGeom>
          <a:solidFill>
            <a:srgbClr val="1C5CAB"/>
          </a:solidFill>
          <a:ln/>
        </p:spPr>
      </p:sp>
      <p:sp>
        <p:nvSpPr>
          <p:cNvPr id="12" name="Text 10"/>
          <p:cNvSpPr/>
          <p:nvPr/>
        </p:nvSpPr>
        <p:spPr>
          <a:xfrm>
            <a:off x="8266176" y="1627632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933688" y="1627632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库存变动全程留痕，经营过程可追溯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91693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销售订单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" y="326440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销售开单，一单多型号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80944" y="3227832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18" name="Shape 16"/>
          <p:cNvSpPr/>
          <p:nvPr/>
        </p:nvSpPr>
        <p:spPr>
          <a:xfrm>
            <a:off x="3328416" y="278892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291693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缺货转采购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493008" y="326440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缺货自动识别汇总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60720" y="3227832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22" name="Shape 20"/>
          <p:cNvSpPr/>
          <p:nvPr/>
        </p:nvSpPr>
        <p:spPr>
          <a:xfrm>
            <a:off x="6108192" y="278892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291693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采购申请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72784" y="326440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采购员接单处理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40496" y="3227832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26" name="Shape 24"/>
          <p:cNvSpPr/>
          <p:nvPr/>
        </p:nvSpPr>
        <p:spPr>
          <a:xfrm>
            <a:off x="8887968" y="278892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291693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进货入库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052560" y="326440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供应商到货，库存回升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887968" y="443484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0" y="456285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生产任务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052560" y="491032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齐套预警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540496" y="4873752"/>
            <a:ext cx="310896" cy="201168"/>
          </a:xfrm>
          <a:prstGeom prst="leftArrow">
            <a:avLst/>
          </a:prstGeom>
          <a:solidFill>
            <a:srgbClr val="E1E0D9"/>
          </a:solidFill>
          <a:ln/>
        </p:spPr>
      </p:sp>
      <p:sp>
        <p:nvSpPr>
          <p:cNvPr id="33" name="Shape 31"/>
          <p:cNvSpPr/>
          <p:nvPr/>
        </p:nvSpPr>
        <p:spPr>
          <a:xfrm>
            <a:off x="6108192" y="443484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72784" y="456285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齐套领料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272784" y="491032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三段复核防错领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760720" y="4873752"/>
            <a:ext cx="310896" cy="201168"/>
          </a:xfrm>
          <a:prstGeom prst="leftArrow">
            <a:avLst/>
          </a:prstGeom>
          <a:solidFill>
            <a:srgbClr val="E1E0D9"/>
          </a:solidFill>
          <a:ln/>
        </p:spPr>
      </p:sp>
      <p:sp>
        <p:nvSpPr>
          <p:cNvPr id="37" name="Shape 35"/>
          <p:cNvSpPr/>
          <p:nvPr/>
        </p:nvSpPr>
        <p:spPr>
          <a:xfrm>
            <a:off x="3328416" y="443484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93008" y="456285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生产入库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3493008" y="491032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生产申请+仓储确认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980944" y="4873752"/>
            <a:ext cx="310896" cy="201168"/>
          </a:xfrm>
          <a:prstGeom prst="leftArrow">
            <a:avLst/>
          </a:prstGeom>
          <a:solidFill>
            <a:srgbClr val="E1E0D9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4434840"/>
            <a:ext cx="23957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456285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 确认出库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13232" y="491032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仓储复核，履约闭环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985248" y="3959352"/>
            <a:ext cx="201168" cy="384048"/>
          </a:xfrm>
          <a:prstGeom prst="downArrow">
            <a:avLst/>
          </a:prstGeom>
          <a:solidFill>
            <a:srgbClr val="E1E0D9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库存由各业务环节自动联动增减，全程单据化、无需人工改台账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在成熟仓储管理系统基础上深度定制开发：流程、权限与数据模型均按甲方需求重构。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方案总览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系统全景：主数据打底，业务域居中，协同治理在上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8549640" cy="914400"/>
          </a:xfrm>
          <a:prstGeom prst="roundRect">
            <a:avLst>
              <a:gd name="adj" fmla="val 7000"/>
            </a:avLst>
          </a:prstGeom>
          <a:solidFill>
            <a:srgbClr val="EEF5F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协同与治理层 —— 跨部门的规则与触达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" y="2029968"/>
            <a:ext cx="157276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29968"/>
            <a:ext cx="15727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库存预警中心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2029968"/>
            <a:ext cx="157276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029968"/>
            <a:ext cx="15727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作废审批流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87952" y="2029968"/>
            <a:ext cx="157276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87952" y="2029968"/>
            <a:ext cx="15727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站内消息通知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07024" y="2029968"/>
            <a:ext cx="157276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07024" y="2029968"/>
            <a:ext cx="15727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全程时间线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26096" y="2029968"/>
            <a:ext cx="157276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6096" y="2029968"/>
            <a:ext cx="15727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真只读审计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24912"/>
            <a:ext cx="8549640" cy="2212848"/>
          </a:xfrm>
          <a:prstGeom prst="roundRect">
            <a:avLst>
              <a:gd name="adj" fmla="val 2893"/>
            </a:avLst>
          </a:prstGeom>
          <a:solidFill>
            <a:srgbClr val="EEF5F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核心业务域 —— 按部门分工的单据流转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9808" y="3090672"/>
            <a:ext cx="1901952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进货与采购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3511296"/>
            <a:ext cx="16276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进货管理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采购申请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供应商管理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98064" y="3090672"/>
            <a:ext cx="1901952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44368" y="3511296"/>
            <a:ext cx="16276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销售管理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销售退货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价格偏离审批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3090672"/>
            <a:ext cx="1901952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4336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生产域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92624" y="3511296"/>
            <a:ext cx="16276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生产任务 BOM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生产领料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成品入库 / 质检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94576" y="3090672"/>
            <a:ext cx="1901952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22592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3511296"/>
            <a:ext cx="16276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库存盘点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库存预警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余料管理（规划）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084064"/>
            <a:ext cx="8549640" cy="914400"/>
          </a:xfrm>
          <a:prstGeom prst="roundRect">
            <a:avLst>
              <a:gd name="adj" fmla="val 7000"/>
            </a:avLst>
          </a:prstGeom>
          <a:solidFill>
            <a:srgbClr val="EEF5F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5175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主数据与基础层 —— 全系统共用的事实与规则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49808" y="5449824"/>
            <a:ext cx="25146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5449824"/>
            <a:ext cx="25146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商品资料（主数据）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10712" y="5449824"/>
            <a:ext cx="25146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10712" y="5449824"/>
            <a:ext cx="25146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用户与部门权限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71616" y="5449824"/>
            <a:ext cx="25146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71616" y="5449824"/>
            <a:ext cx="25146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系统参数 / 阈值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372600" y="1664208"/>
            <a:ext cx="22677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72600" y="1773936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9372600" y="253288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功能页面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372600" y="3172968"/>
            <a:ext cx="22677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72600" y="3282696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4000" dirty="0"/>
          </a:p>
        </p:txBody>
      </p:sp>
      <p:sp>
        <p:nvSpPr>
          <p:cNvPr id="44" name="Text 42"/>
          <p:cNvSpPr/>
          <p:nvPr/>
        </p:nvSpPr>
        <p:spPr>
          <a:xfrm>
            <a:off x="9372600" y="404164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业务功能域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372600" y="4681728"/>
            <a:ext cx="226771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72600" y="4791456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4000" dirty="0"/>
          </a:p>
        </p:txBody>
      </p:sp>
      <p:sp>
        <p:nvSpPr>
          <p:cNvPr id="47" name="Text 45"/>
          <p:cNvSpPr/>
          <p:nvPr/>
        </p:nvSpPr>
        <p:spPr>
          <a:xfrm>
            <a:off x="9372600" y="555040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数据库数据表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物料按「名称 + 规格」唯一建档；库存变更由各业务单据联动完成，不在商品资料重复录入。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亮点 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I · 库存与盘点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账实一致：预警前置，盘点闭环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回应痛点 1、痛点 4 —— 库存风险在预警中心先看见，盘点结果可核、差异可追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5413248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01952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库存预警闭环：从发现到催采一条线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32688" y="2423160"/>
            <a:ext cx="18288" cy="1536192"/>
          </a:xfrm>
          <a:prstGeom prst="rect">
            <a:avLst/>
          </a:prstGeom>
          <a:solidFill>
            <a:srgbClr val="E1E0D9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286000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2750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07008" y="224028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库存低于安全线 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系统按安全线实时比对，自动亮牌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" y="2798064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78709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2752344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预警中心集中呈现 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物料、当前量、安全线、缺口一目了然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" y="3310128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991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07008" y="3264408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自动匹配建议供应商 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催采从「找人查」变「点开办」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" y="3822192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81121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07008" y="377647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到货入库自动解除 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库存回升，预警同步消除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5413248" cy="1783080"/>
          </a:xfrm>
          <a:prstGeom prst="roundRect">
            <a:avLst>
              <a:gd name="adj" fmla="val 3590"/>
            </a:avLst>
          </a:prstGeom>
          <a:solidFill>
            <a:srgbClr val="F7F7F5"/>
          </a:solidFill>
          <a:ln w="19050">
            <a:solidFill>
              <a:srgbClr val="B9B8B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31520" y="4572000"/>
            <a:ext cx="5047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【截图占位】库存预警中心页面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建议：预警列表，含物料 / 当前量 / 安全线 / 建议供应商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1755648"/>
            <a:ext cx="5413248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1901952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强制盲盘：员工全程看不到账面数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601968" y="2423160"/>
            <a:ext cx="18288" cy="1536192"/>
          </a:xfrm>
          <a:prstGeom prst="rect">
            <a:avLst/>
          </a:prstGeom>
          <a:solidFill>
            <a:srgbClr val="E1E0D9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3952" y="2286000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7" name="Text 25"/>
          <p:cNvSpPr/>
          <p:nvPr/>
        </p:nvSpPr>
        <p:spPr>
          <a:xfrm>
            <a:off x="6473952" y="22750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76288" y="224028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仓储建单并指派 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站内消息直达盘点负责人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73952" y="2798064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30" name="Text 28"/>
          <p:cNvSpPr/>
          <p:nvPr/>
        </p:nvSpPr>
        <p:spPr>
          <a:xfrm>
            <a:off x="6473952" y="278709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76288" y="2752344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员工盲盘录入 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只见实盘数，账面数与差异全程屏蔽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73952" y="3310128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33" name="Text 31"/>
          <p:cNvSpPr/>
          <p:nvPr/>
        </p:nvSpPr>
        <p:spPr>
          <a:xfrm>
            <a:off x="6473952" y="32991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76288" y="3264408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提交送审 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仓储管理员收到「盘点单待审核」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73952" y="3822192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36" name="Text 34"/>
          <p:cNvSpPr/>
          <p:nvPr/>
        </p:nvSpPr>
        <p:spPr>
          <a:xfrm>
            <a:off x="6473952" y="381121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76288" y="377647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自动生成差异 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生效后差异留档，复盘有据可查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7920" y="4572000"/>
            <a:ext cx="5413248" cy="1783080"/>
          </a:xfrm>
          <a:prstGeom prst="roundRect">
            <a:avLst>
              <a:gd name="adj" fmla="val 3590"/>
            </a:avLst>
          </a:prstGeom>
          <a:solidFill>
            <a:srgbClr val="F7F7F5"/>
          </a:solidFill>
          <a:ln w="19050">
            <a:solidFill>
              <a:srgbClr val="B9B8B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6400800" y="4572000"/>
            <a:ext cx="5047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【截图占位】盘点盲盘录入页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建议：员工端录入界面，隐去账面数列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盘点单四态全生命周期：草稿 / 进行中 / 已完成 / 已作废；预警读权限覆盖四部门成员。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亮点 II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II · 销售协同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销售-仓储-采购一线牵，缺货自动找到采购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回应痛点 3 —— 销售端看得见库存、出库有人复核、缺货自动转采购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55648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销售开单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39696" y="2098548"/>
            <a:ext cx="21945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9" name="Shape 7"/>
          <p:cNvSpPr/>
          <p:nvPr/>
        </p:nvSpPr>
        <p:spPr>
          <a:xfrm>
            <a:off x="2377440" y="1755648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755648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缺货自动识别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68496" y="2098548"/>
            <a:ext cx="21945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06240" y="1755648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1C5CAB"/>
          </a:solidFill>
          <a:ln w="12700">
            <a:solidFill>
              <a:srgbClr val="1C5C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9392" y="1755648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消息直达采购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97296" y="2098548"/>
            <a:ext cx="21945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755648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755648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采购进货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26096" y="2098548"/>
            <a:ext cx="21945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1755648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36992" y="1755648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库存回升 · 预警解除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454896" y="2098548"/>
            <a:ext cx="21945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21" name="Shape 19"/>
          <p:cNvSpPr/>
          <p:nvPr/>
        </p:nvSpPr>
        <p:spPr>
          <a:xfrm>
            <a:off x="9692640" y="1755648"/>
            <a:ext cx="1572768" cy="868680"/>
          </a:xfrm>
          <a:prstGeom prst="roundRect">
            <a:avLst>
              <a:gd name="adj" fmla="val 7368"/>
            </a:avLst>
          </a:prstGeom>
          <a:solidFill>
            <a:srgbClr val="1C5CAB"/>
          </a:solidFill>
          <a:ln w="12700">
            <a:solidFill>
              <a:srgbClr val="1C5C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65792" y="1755648"/>
            <a:ext cx="142646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仓储确认出库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2880360"/>
            <a:ext cx="594360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3008376"/>
            <a:ext cx="5504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站内消息 · 缺货通知（脱敏示例）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8096" y="3337560"/>
            <a:ext cx="5504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销售订单 SO-2026***-001 缺货汇总：成品 A 缺 40、成品 B 缺 15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（同一订单缺货合并为一条通知，不刷屏）——已自动生成采购申请待处理，到货后预警自动解除。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48272" y="2880360"/>
            <a:ext cx="48920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288036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一单多型号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一张销售单多成品行，整单一次确认出库不拆单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48272" y="3721608"/>
            <a:ext cx="48920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31152" y="372160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价格偏离审批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售价超阈值自动送销售管理员审批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645152"/>
            <a:ext cx="11091672" cy="1572768"/>
          </a:xfrm>
          <a:prstGeom prst="roundRect">
            <a:avLst>
              <a:gd name="adj" fmla="val 4070"/>
            </a:avLst>
          </a:prstGeom>
          <a:solidFill>
            <a:srgbClr val="F7F7F5"/>
          </a:solidFill>
          <a:ln w="19050">
            <a:solidFill>
              <a:srgbClr val="B9B8B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731520" y="4645152"/>
            <a:ext cx="1072591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【截图占位】销售订单页面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建议：销售单编辑页：多成品行 + 缺货列标红提示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另有全流程履约时间线（见第 09 页）；缺货按单汇总一条消息，避免多头轰炸。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亮点 III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III · 生产领料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错领漏领双闸拦截：四道闸 + 一道质检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回应痛点 2 —— 齐套先算清楚，发料三段复核，产线质量有闸门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487168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110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 1 · 事前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18541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齐套核算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2551176"/>
            <a:ext cx="21579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按生产任务自动算齐套，缺料即预警；齐套领料按单事实显示，防止先领后补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72384" y="2587752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11" name="Shape 9"/>
          <p:cNvSpPr/>
          <p:nvPr/>
        </p:nvSpPr>
        <p:spPr>
          <a:xfrm>
            <a:off x="3419856" y="1783080"/>
            <a:ext cx="2487168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19110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 2 · 申请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84448" y="218541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领料人提交申请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84448" y="2551176"/>
            <a:ext cx="21579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按任务单选物料，事前明确「领什么、领多少」，杜绝凭经验估领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0" y="2587752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16" name="Shape 14"/>
          <p:cNvSpPr/>
          <p:nvPr/>
        </p:nvSpPr>
        <p:spPr>
          <a:xfrm>
            <a:off x="6291072" y="1783080"/>
            <a:ext cx="2487168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19110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 3 · 发料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55664" y="218541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仓库按单发料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55664" y="2551176"/>
            <a:ext cx="21579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仓管员照申请单核对发料，品项数量差错当场暴露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14816" y="2587752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21" name="Shape 19"/>
          <p:cNvSpPr/>
          <p:nvPr/>
        </p:nvSpPr>
        <p:spPr>
          <a:xfrm>
            <a:off x="9162288" y="1783080"/>
            <a:ext cx="2487168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19110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 4 · 复核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0" y="218541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领料人确认收料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326880" y="2551176"/>
            <a:ext cx="21579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领料人复核收料才闭环，三段留痕、双向确认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822192"/>
            <a:ext cx="541324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950208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产线质检闸 + 两段式成品入库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68096" y="4297680"/>
            <a:ext cx="49743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工序打卡流转，上道不合格不得流入下道；质检结果驱动任务状态推进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成品入库走「生产申请 + 仓储确认」两段式，不带病入库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3822192"/>
            <a:ext cx="5413248" cy="1417320"/>
          </a:xfrm>
          <a:prstGeom prst="roundRect">
            <a:avLst>
              <a:gd name="adj" fmla="val 4516"/>
            </a:avLst>
          </a:prstGeom>
          <a:solidFill>
            <a:srgbClr val="F7F7F5"/>
          </a:solidFill>
          <a:ln w="19050">
            <a:solidFill>
              <a:srgbClr val="B9B8B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400800" y="3822192"/>
            <a:ext cx="50474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【截图占位】生产领料单页面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建议：领料单详情：三段状态与时间线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补料、退料同样走三段复核；生产任务单联动销售单，需求变化自动传导。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· 治理与追溯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治理与追溯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单据有审批、过程有留痕、数据有人守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回应痛点 1 —— 把「谁能动数据、动过没有」变成系统里的硬规则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12648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911096"/>
            <a:ext cx="5687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销售履约时间线 · 脱敏示例（单号 SO-2026***-001）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05840" y="3345790"/>
            <a:ext cx="5212080" cy="20117"/>
          </a:xfrm>
          <a:prstGeom prst="rect">
            <a:avLst/>
          </a:prstGeom>
          <a:solidFill>
            <a:srgbClr val="E1E0D9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3227832"/>
            <a:ext cx="256032" cy="256032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32168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4871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10:02 销售开单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一单多型号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15184" y="3227832"/>
            <a:ext cx="256032" cy="256032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3" name="Text 11"/>
          <p:cNvSpPr/>
          <p:nvPr/>
        </p:nvSpPr>
        <p:spPr>
          <a:xfrm>
            <a:off x="2615184" y="32168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36118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10:02 缺货自动汇总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消息直达采购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52544" y="3227832"/>
            <a:ext cx="256032" cy="256032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6" name="Text 14"/>
          <p:cNvSpPr/>
          <p:nvPr/>
        </p:nvSpPr>
        <p:spPr>
          <a:xfrm>
            <a:off x="4352544" y="32168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94760" y="24871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14:30 采购到货入库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库存回升预警解除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9904" y="3227832"/>
            <a:ext cx="256032" cy="256032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9" name="Text 17"/>
          <p:cNvSpPr/>
          <p:nvPr/>
        </p:nvSpPr>
        <p:spPr>
          <a:xfrm>
            <a:off x="6089904" y="321685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57800" y="36118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16:45 仓储确认出库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履约闭环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8096" y="4462272"/>
            <a:ext cx="5687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状态推进、驳回、作废全节点留痕，谁在何时做了什么一目了然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31152" y="178308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178308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作废审批 + 联动冻结 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重要单据不可直接删除，作废须走审批；销售单取消 / 终止后，在途下游单据（采购、补料、入库、质检）联动冻结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31152" y="283464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14032" y="283464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价格审批 + 真只读审计 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售价偏离阈值自动送销售管理员审批；审计角色看得见、改不了，不越权纠错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31152" y="388620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14032" y="388620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权限按部门隔离 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四部门按角色授权，读写权限分开配置；跨部门单据两侧各有门禁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047488"/>
            <a:ext cx="11091672" cy="1170432"/>
          </a:xfrm>
          <a:prstGeom prst="roundRect">
            <a:avLst>
              <a:gd name="adj" fmla="val 5469"/>
            </a:avLst>
          </a:prstGeom>
          <a:solidFill>
            <a:srgbClr val="F7F7F5"/>
          </a:solidFill>
          <a:ln w="19050">
            <a:solidFill>
              <a:srgbClr val="B9B8B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31520" y="5047488"/>
            <a:ext cx="10725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【截图占位】单据时间线展开效果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建议：任意业务单据详情页底部的一键展开时间线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当前为单据级全程留痕；件级（序列号级）追溯在后续计划中。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· 现场演示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四站走完核心业务闭环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按真实角色、真实流程走；每站约 3–5 分钟，可按甲方关注点调整顺序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70048" cy="393192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64208" y="2103120"/>
            <a:ext cx="438912" cy="438912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8" name="Text 6"/>
          <p:cNvSpPr/>
          <p:nvPr/>
        </p:nvSpPr>
        <p:spPr>
          <a:xfrm>
            <a:off x="1664208" y="209214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06424" y="2724912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EEF5FD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" y="2724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销售管理员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销售下单与协同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68096" y="3639312"/>
            <a:ext cx="22311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新建销售单（一单多型号）→ 缺货自动提示并汇总消息转采购 → 提交后由仓储确认出库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55848" y="1828800"/>
            <a:ext cx="2670048" cy="3931920"/>
          </a:xfrm>
          <a:prstGeom prst="roundRect">
            <a:avLst>
              <a:gd name="adj" fmla="val 2397"/>
            </a:avLst>
          </a:prstGeom>
          <a:solidFill>
            <a:srgbClr val="FBFBFA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71416" y="2103120"/>
            <a:ext cx="438912" cy="438912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5" name="Text 13"/>
          <p:cNvSpPr/>
          <p:nvPr/>
        </p:nvSpPr>
        <p:spPr>
          <a:xfrm>
            <a:off x="4471416" y="209214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913632" y="2724912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EEF5FD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2724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采购管理员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38728" y="3200400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采购与到货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575304" y="3639312"/>
            <a:ext cx="22311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处理采购申请 → 生成进货单 → 到货入库后库存回升，销售缺货预警自动解除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63056" y="1828800"/>
            <a:ext cx="2670048" cy="393192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78624" y="2103120"/>
            <a:ext cx="438912" cy="438912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20"/>
          <p:cNvSpPr/>
          <p:nvPr/>
        </p:nvSpPr>
        <p:spPr>
          <a:xfrm>
            <a:off x="7278624" y="209214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20840" y="2724912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EEF5FD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2724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 + 生产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45936" y="3200400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生产领料三段复核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382512" y="3639312"/>
            <a:ext cx="22311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生产任务齐套预警 → 领料人申请 → 仓库发料 → 领料人确认收料，全程时间线可回看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970264" y="1828800"/>
            <a:ext cx="2670048" cy="3931920"/>
          </a:xfrm>
          <a:prstGeom prst="roundRect">
            <a:avLst>
              <a:gd name="adj" fmla="val 2397"/>
            </a:avLst>
          </a:prstGeom>
          <a:solidFill>
            <a:srgbClr val="FBFBFA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85832" y="2103120"/>
            <a:ext cx="438912" cy="438912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9" name="Text 27"/>
          <p:cNvSpPr/>
          <p:nvPr/>
        </p:nvSpPr>
        <p:spPr>
          <a:xfrm>
            <a:off x="10085832" y="209214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528048" y="2724912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EEF5FD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28048" y="2724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仓储管理员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153144" y="3200400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盘点与治理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189720" y="3639312"/>
            <a:ext cx="22311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发起盘点 → 员工强制盲盘录入 → 自动生成差异 → 作废审批与联动冻结、时间线追溯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演示使用脱敏示例数据；账号按演示现场临时登录，不在材料中出现。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· 工作量与质量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6B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工作量与质量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 个月的定制开发成果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数据截至 2026-10-08，全部可在版本库与测试报告中核对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75304" cy="1783080"/>
          </a:xfrm>
          <a:prstGeom prst="roundRect">
            <a:avLst>
              <a:gd name="adj" fmla="val 3590"/>
            </a:avLst>
          </a:prstGeom>
          <a:solidFill>
            <a:srgbClr val="1F2124"/>
          </a:solidFill>
          <a:ln w="12700">
            <a:solidFill>
              <a:srgbClr val="3A3D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75688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 个月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3044952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开发周期 · 2026-05-13 起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6824" y="1874520"/>
            <a:ext cx="3575304" cy="1783080"/>
          </a:xfrm>
          <a:prstGeom prst="roundRect">
            <a:avLst>
              <a:gd name="adj" fmla="val 3590"/>
            </a:avLst>
          </a:prstGeom>
          <a:solidFill>
            <a:srgbClr val="1F2124"/>
          </a:solidFill>
          <a:ln w="12700">
            <a:solidFill>
              <a:srgbClr val="3A3D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06824" y="2075688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148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306824" y="3044952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代码提交（Git）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1874520"/>
            <a:ext cx="3575304" cy="1783080"/>
          </a:xfrm>
          <a:prstGeom prst="roundRect">
            <a:avLst>
              <a:gd name="adj" fmla="val 3590"/>
            </a:avLst>
          </a:prstGeom>
          <a:solidFill>
            <a:srgbClr val="1F2124"/>
          </a:solidFill>
          <a:ln w="12700">
            <a:solidFill>
              <a:srgbClr val="3A3D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5008" y="2075688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065008" y="3044952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单元测试全部通过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575304" cy="1783080"/>
          </a:xfrm>
          <a:prstGeom prst="roundRect">
            <a:avLst>
              <a:gd name="adj" fmla="val 3590"/>
            </a:avLst>
          </a:prstGeom>
          <a:solidFill>
            <a:srgbClr val="1F2124"/>
          </a:solidFill>
          <a:ln w="12700">
            <a:solidFill>
              <a:srgbClr val="3A3D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33088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48640" y="5102352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功能页面（侧边菜单）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06824" y="3931920"/>
            <a:ext cx="3575304" cy="1783080"/>
          </a:xfrm>
          <a:prstGeom prst="roundRect">
            <a:avLst>
              <a:gd name="adj" fmla="val 3590"/>
            </a:avLst>
          </a:prstGeom>
          <a:solidFill>
            <a:srgbClr val="1F2124"/>
          </a:solidFill>
          <a:ln w="12700">
            <a:solidFill>
              <a:srgbClr val="3A3D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6824" y="4133088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306824" y="5102352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数据库数据表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65008" y="3931920"/>
            <a:ext cx="3575304" cy="1783080"/>
          </a:xfrm>
          <a:prstGeom prst="roundRect">
            <a:avLst>
              <a:gd name="adj" fmla="val 3590"/>
            </a:avLst>
          </a:prstGeom>
          <a:solidFill>
            <a:srgbClr val="1F2124"/>
          </a:solidFill>
          <a:ln w="12700">
            <a:solidFill>
              <a:srgbClr val="3A3D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5008" y="4133088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065008" y="5102352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架构决策记录（ADR）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· 后续计划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后续计划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已规划的四项下一步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均不阻塞当前系统交付使用，按优先级滚动推进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" y="2048256"/>
            <a:ext cx="18288" cy="3072384"/>
          </a:xfrm>
          <a:prstGeom prst="rect">
            <a:avLst/>
          </a:prstGeom>
          <a:solidFill>
            <a:srgbClr val="E1E0D9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828800"/>
            <a:ext cx="292608" cy="29260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81782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0704" y="1755648"/>
            <a:ext cx="5614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余料台账 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余料退库建账、再利用追踪，持续补齐痛点 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" y="2852928"/>
            <a:ext cx="292608" cy="29260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84195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0704" y="2779776"/>
            <a:ext cx="5614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件级追溯 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在现有单据级全程留痕之上，细化到序列号级追溯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" y="3877056"/>
            <a:ext cx="292608" cy="29260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86608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60704" y="3803904"/>
            <a:ext cx="5614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联合验收（UAT） 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上线前与各部门按真实业务场景联合验证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" y="4901184"/>
            <a:ext cx="292608" cy="29260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489021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0704" y="4828032"/>
            <a:ext cx="5614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使用助手启用 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已开发完成，配置大模型服务后即可启用，帮助新员工自助查询操作方法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31152" y="1755648"/>
            <a:ext cx="4709160" cy="4041648"/>
          </a:xfrm>
          <a:prstGeom prst="roundRect">
            <a:avLst>
              <a:gd name="adj" fmla="val 1584"/>
            </a:avLst>
          </a:prstGeom>
          <a:solidFill>
            <a:srgbClr val="F7F7F5"/>
          </a:solidFill>
          <a:ln w="19050">
            <a:solidFill>
              <a:srgbClr val="B9B8B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114032" y="1755648"/>
            <a:ext cx="4343400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【截图占位】AI 使用助手界面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建议：助手问答界面 + 一组典型问答示例（脱敏）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6B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谢谢观看，期待指导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【项目名称】仓储管理系统 · 项目成果汇报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434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联系方式：【联系方式】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263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【团队名称】 · 2026 年 10 月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2026-10-08T06:17:44Z</dcterms:created>
  <dcterms:modified xsi:type="dcterms:W3CDTF">2026-10-08T06:17:44Z</dcterms:modified>
</cp:coreProperties>
</file>