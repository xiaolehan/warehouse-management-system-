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189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2860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仓储管理系统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38200" y="3391989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从纸质单据到全流程数字化协同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 年 10 月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背景与痛点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五类库存管理难题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每一条都是日常运营中反复发生、靠人工手段难以根治的问题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0116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007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35024" y="18653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库存管理混乱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83280" y="18470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台账靠手工 / Excel 更新，滞后失真；超储与缺货并存，仓库利用率低。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后果：账上有的货找不到、找到的货对不上数，采购与生产决策缺少可信依据。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9260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9151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35024" y="27797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生产领料耗时久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83280" y="27614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凭经验领料、往返仓库反复确认；错领漏领后还要二次补领。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后果：产线等料停工，工期被迫延长，错领的料无人追溯。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8404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295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35024" y="36941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销售与库存脱节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83280" y="36758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靠电话 / 微信问库存，响应慢、口径不一。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后果：先接单后发现没货，超卖违约风险与丢单并存。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7548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7439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35024" y="46085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库存盘点效率低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383280" y="45902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人工核对费时费力且易出错，差异缺少系统记录。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后果：盘完说不清差在哪，复盘追责无据可查，同样问题反复出现。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4132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56692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6583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35024" y="55229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余料管理不足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383280" y="55046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余料无台账、状态不明，有料不敢用、有料找不到。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后果：可再利用的余料长期闲置直至报废，持续浪费成本。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后续亮点页以「回应痛点 N」角标逐一对应；余料台账为下一步规划。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方案总览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三个建设目标，一条业务主线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75304" cy="841248"/>
          </a:xfrm>
          <a:prstGeom prst="roundRect">
            <a:avLst>
              <a:gd name="adj" fmla="val 7609"/>
            </a:avLst>
          </a:prstGeom>
          <a:solidFill>
            <a:srgbClr val="1C5CA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627632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建立统一库存台账，账实一致、数据实时准确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06824" y="1627632"/>
            <a:ext cx="3575304" cy="841248"/>
          </a:xfrm>
          <a:prstGeom prst="roundRect">
            <a:avLst>
              <a:gd name="adj" fmla="val 7609"/>
            </a:avLst>
          </a:prstGeom>
          <a:solidFill>
            <a:srgbClr val="1C5CAB"/>
          </a:solidFill>
          <a:ln/>
        </p:spPr>
      </p:sp>
      <p:sp>
        <p:nvSpPr>
          <p:cNvPr id="9" name="Text 7"/>
          <p:cNvSpPr/>
          <p:nvPr/>
        </p:nvSpPr>
        <p:spPr>
          <a:xfrm>
            <a:off x="4507992" y="16276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75504" y="1627632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单据全流程线上流转，部门间自动协同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1627632"/>
            <a:ext cx="3575304" cy="841248"/>
          </a:xfrm>
          <a:prstGeom prst="roundRect">
            <a:avLst>
              <a:gd name="adj" fmla="val 7609"/>
            </a:avLst>
          </a:prstGeom>
          <a:solidFill>
            <a:srgbClr val="1C5CAB"/>
          </a:solidFill>
          <a:ln/>
        </p:spPr>
      </p:sp>
      <p:sp>
        <p:nvSpPr>
          <p:cNvPr id="12" name="Text 10"/>
          <p:cNvSpPr/>
          <p:nvPr/>
        </p:nvSpPr>
        <p:spPr>
          <a:xfrm>
            <a:off x="8266176" y="16276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933688" y="1627632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库存变动全程留痕，经营过程可追溯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销售订单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13232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销售开单，一单多型号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980944" y="322783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8" name="Shape 16"/>
          <p:cNvSpPr/>
          <p:nvPr/>
        </p:nvSpPr>
        <p:spPr>
          <a:xfrm>
            <a:off x="3328416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缺货转采购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493008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缺货自动识别汇总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60720" y="322783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2" name="Shape 20"/>
          <p:cNvSpPr/>
          <p:nvPr/>
        </p:nvSpPr>
        <p:spPr>
          <a:xfrm>
            <a:off x="6108192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采购申请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272784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采购员接单处理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40496" y="322783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8887968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进货入库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052560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供应商到货，库存回升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887968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生产任务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052560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齐套预警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40496" y="4873752"/>
            <a:ext cx="310896" cy="201168"/>
          </a:xfrm>
          <a:prstGeom prst="leftArrow">
            <a:avLst/>
          </a:prstGeom>
          <a:solidFill>
            <a:srgbClr val="E1E0D9"/>
          </a:solidFill>
          <a:ln/>
        </p:spPr>
      </p:sp>
      <p:sp>
        <p:nvSpPr>
          <p:cNvPr id="33" name="Shape 31"/>
          <p:cNvSpPr/>
          <p:nvPr/>
        </p:nvSpPr>
        <p:spPr>
          <a:xfrm>
            <a:off x="6108192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齐套领料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272784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三段复核防错领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760720" y="4873752"/>
            <a:ext cx="310896" cy="201168"/>
          </a:xfrm>
          <a:prstGeom prst="leftArrow">
            <a:avLst/>
          </a:prstGeom>
          <a:solidFill>
            <a:srgbClr val="E1E0D9"/>
          </a:solidFill>
          <a:ln/>
        </p:spPr>
      </p:sp>
      <p:sp>
        <p:nvSpPr>
          <p:cNvPr id="37" name="Shape 35"/>
          <p:cNvSpPr/>
          <p:nvPr/>
        </p:nvSpPr>
        <p:spPr>
          <a:xfrm>
            <a:off x="3328416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生产入库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3493008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生产申请+仓储确认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980944" y="4873752"/>
            <a:ext cx="310896" cy="201168"/>
          </a:xfrm>
          <a:prstGeom prst="leftArrow">
            <a:avLst/>
          </a:prstGeom>
          <a:solidFill>
            <a:srgbClr val="E1E0D9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确认出库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713232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仓储复核，履约闭环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985248" y="3959352"/>
            <a:ext cx="201168" cy="384048"/>
          </a:xfrm>
          <a:prstGeom prst="downArrow">
            <a:avLst/>
          </a:prstGeom>
          <a:solidFill>
            <a:srgbClr val="E1E0D9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库存由各业务环节自动联动增减，全程单据化、无需人工改台账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在成熟仓储管理系统基础上深度定制开发：流程、权限与数据模型均按甲方需求重构。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方案总览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系统全景：主数据打底，业务域居中，协同治理在上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8549640" cy="914400"/>
          </a:xfrm>
          <a:prstGeom prst="roundRect">
            <a:avLst>
              <a:gd name="adj" fmla="val 7000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协同与治理层 —— 跨部门的规则与触达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库存预警中心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作废审批流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87952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2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站内消息通知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07024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全程时间线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26096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真只读审计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724912"/>
            <a:ext cx="8549640" cy="2212848"/>
          </a:xfrm>
          <a:prstGeom prst="roundRect">
            <a:avLst>
              <a:gd name="adj" fmla="val 2893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核心业务域 —— 按部门分工的单据流转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9808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进货与采购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进货管理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98064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44368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销售管理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销售退货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价格偏离审批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46320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92624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生产任务 BOM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 / 质检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94576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库存盘点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余料管理（规划）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084064"/>
            <a:ext cx="8549640" cy="914400"/>
          </a:xfrm>
          <a:prstGeom prst="roundRect">
            <a:avLst>
              <a:gd name="adj" fmla="val 7000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175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主数据与基础层 —— 全系统共用的事实与规则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49808" y="544982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449824"/>
            <a:ext cx="25146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商品资料（主数据）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10712" y="544982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0712" y="5449824"/>
            <a:ext cx="25146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用户与部门权限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71616" y="544982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5449824"/>
            <a:ext cx="25146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系统参数 / 阈值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372600" y="1664208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1773936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9372600" y="2532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功能页面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372600" y="3172968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3282696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200" dirty="0"/>
          </a:p>
        </p:txBody>
      </p:sp>
      <p:sp>
        <p:nvSpPr>
          <p:cNvPr id="44" name="Text 42"/>
          <p:cNvSpPr/>
          <p:nvPr/>
        </p:nvSpPr>
        <p:spPr>
          <a:xfrm>
            <a:off x="9372600" y="40416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业务功能域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372600" y="4681728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72600" y="4791456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9372600" y="55504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数据库数据表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物料按「名称 + 规格」唯一建档；库存变更由各业务单据联动完成，不在商品资料重复录入。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>
            <a:extLst>
              <a:ext uri="{FF2B5EF4-FFF2-40B4-BE49-F238E27FC236}">
                <a16:creationId xmlns:a16="http://schemas.microsoft.com/office/drawing/2014/main" id="{420730DE-AC3C-AD30-1F53-A120D3C59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112" y="4498848"/>
            <a:ext cx="4852009" cy="188366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6C53D9C9-62DB-AA96-B9D2-4F5B5D6A6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07" y="4498848"/>
            <a:ext cx="4515858" cy="188366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亮点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 · 库存与盘点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账实一致：预警前置，盘点闭环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1、痛点 4 —— 库存风险在预警中心先看见，盘点结果可核、差异可追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1324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0195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库存预警闭环：从发现到催采一条线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32688" y="2423160"/>
            <a:ext cx="18288" cy="1536192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286000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750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22402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库存低于安全线  </a:t>
            </a: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系统按安全线实时比对，自动亮牌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2798064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7870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275234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预警中心集中呈现  </a:t>
            </a: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物料、当前量、安全线、缺口一目了然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331012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991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326440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自动匹配建议供应商  </a:t>
            </a: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催采从「找人查」变「点开办」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4672" y="3822192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8112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377647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到货入库自动解除  </a:t>
            </a: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库存回升，预警同步消除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5047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755648"/>
            <a:ext cx="541324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90195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强制盲盘：员工全程看不到账面数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6601968" y="2423160"/>
            <a:ext cx="18288" cy="1536192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952" y="2286000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22750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6288" y="22402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仓储建单并指派  </a:t>
            </a: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站内消息直达盘点负责人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73952" y="2798064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27870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76288" y="275234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员工盲盘录入  </a:t>
            </a: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只见实盘数，账面数与差异全程屏蔽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73952" y="331012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32991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76288" y="326440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提交送审  </a:t>
            </a: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仓储管理员收到「盘点单待审核」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73952" y="3822192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8112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76288" y="377647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自动生成差异  </a:t>
            </a: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生效后差异留档，复盘有据可查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00800" y="4572000"/>
            <a:ext cx="5047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盘点单四态全生命周期：草稿 / 进行中 / 已完成 / 已作废；预警读权限覆盖四部门成员。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亮点 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II · 销售协同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销售-仓储-采购一线牵，缺货自动找到采购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3 —— 销售端看得见库存、出库有人复核、缺货自动转采购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销售开单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1396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缺货自动识别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9684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消息直达采购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972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采购进货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260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库存回升 · 预警解除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4548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57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仓储确认出库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2880360"/>
            <a:ext cx="489204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008376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 · 缺货通知（脱敏示例）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8096" y="3337560"/>
            <a:ext cx="4672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 SO-2026***-001 缺货汇总：成品 A 缺 40、成品 B 缺 15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（同一订单缺货合并为一条通知，不刷屏）——已自动生成采购申请待处理，到货后预警自动解除。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561550"/>
            <a:ext cx="48920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56155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一单多型号  </a:t>
            </a:r>
            <a:r>
              <a:rPr lang="en-US" sz="13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一张销售单多成品行，整单一次确认出库不拆单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402798"/>
            <a:ext cx="48920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40279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价格偏离审批  </a:t>
            </a:r>
            <a:r>
              <a:rPr lang="en-US" sz="13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售价超阈值自动送销售管理员审批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另有全流程履约时间线（见第 08 页）；缺货按单汇总一条消息，避免多头轰炸。</a:t>
            </a:r>
            <a:endParaRPr lang="en-US" sz="1100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64EA6EEA-9865-20AE-E3F8-6693179F2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41" y="2788920"/>
            <a:ext cx="3298109" cy="3593592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亮点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III · 生产领料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错领漏领双闸拦截：四道闸 + 一道质检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2 —— 齐套先算清楚，发料三段复核，产线质量有闸门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1 · 事前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齐套核算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按生产任务自动算齐套，缺料即预警；齐套领料按单事实显示，防止先领后补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72384" y="258775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1" name="Shape 9"/>
          <p:cNvSpPr/>
          <p:nvPr/>
        </p:nvSpPr>
        <p:spPr>
          <a:xfrm>
            <a:off x="3419856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2 · 申请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84448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领料人提交申请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84448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按任务单选物料，事前明确「领什么、领多少」，杜绝凭经验估领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258775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3 · 发料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55664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仓库按单发料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55664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仓管员照申请单核对发料，品项数量差错当场暴露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14816" y="258775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1" name="Shape 19"/>
          <p:cNvSpPr/>
          <p:nvPr/>
        </p:nvSpPr>
        <p:spPr>
          <a:xfrm>
            <a:off x="9162288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4 · 复核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0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领料人确认收料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26880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领料人复核收料才闭环，三段留痕、双向确认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439412"/>
            <a:ext cx="54132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567428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产线质检闸 + 两段式成品入库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68096" y="4914900"/>
            <a:ext cx="49743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工序打卡流转，上道不合格不得流入下道；质检结果驱动任务状态推进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成品入库走「生产申请 + 仓储确认」两段式，不带病入库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补料、退料同样走三段复核；生产任务单联动销售单，需求变化自动传导。</a:t>
            </a:r>
            <a:endParaRPr lang="en-US" sz="11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B6E8CE2-10F6-3272-1D20-5908FE18B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478" y="3675888"/>
            <a:ext cx="2715275" cy="2679192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治理与追溯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治理与追溯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单据有审批、过程有留痕、数据有人守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1 —— 把「谁能动数据、动过没有」变成系统里的硬规则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12648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11096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销售履约时间线 · 脱敏示例（单号 SO-2026***-001）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3345790"/>
            <a:ext cx="5212080" cy="20117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24871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10:02 销售开单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一单多型号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1518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261518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74520" y="3611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10:02 缺货自动汇总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消息直达采购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5254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435254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11880" y="24871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14:30 采购到货入库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库存回升预警解除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990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9" name="Text 17"/>
          <p:cNvSpPr/>
          <p:nvPr/>
        </p:nvSpPr>
        <p:spPr>
          <a:xfrm>
            <a:off x="608990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611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16:45 仓储确认出库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履约闭环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68096" y="4462272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状态推进、驳回、作废全节点留痕，谁在何时做了什么一目了然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31152" y="178308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78308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作废审批 + 联动冻结 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重要单据不可直接删除，作废须走审批；销售单取消 / 终止后，在途下游单据（采购、补料、入库、质检）联动冻结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31152" y="283464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28346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价格审批 + 真只读审计 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售价偏离阈值自动送销售管理员审批；审计角色看得见、改不了，不越权纠错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31152" y="388620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38862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权限按部门隔离 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四部门按角色授权，读写权限分开配置；跨部门单据两侧各有门禁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当前为单据级全程留痕；件级（序列号级）追溯在后续计划中。</a:t>
            </a:r>
            <a:endParaRPr lang="en-US" sz="11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6D9C1AA4-1935-31AF-45D4-C3342757C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429" y="4956048"/>
            <a:ext cx="4456094" cy="133502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3622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9946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谢谢观看，期待指导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1">
      <a:dk1>
        <a:srgbClr val="2E75B5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614</Words>
  <Application>Microsoft Office PowerPoint</Application>
  <PresentationFormat>宽屏</PresentationFormat>
  <Paragraphs>184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 Pang</cp:lastModifiedBy>
  <cp:revision>6</cp:revision>
  <dcterms:created xsi:type="dcterms:W3CDTF">2026-10-08T06:17:44Z</dcterms:created>
  <dcterms:modified xsi:type="dcterms:W3CDTF">2026-10-08T13:46:59Z</dcterms:modified>
</cp:coreProperties>
</file>